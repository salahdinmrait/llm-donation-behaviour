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FAFC"/>
                </a:solidFill>
                <a:latin typeface="Segoe UI"/>
              </a:defRPr>
            </a:pPr>
            <a:r>
              <a:t>Gender Differences in Responses to</a:t>
            </a:r>
            <a:br/>
            <a:r>
              <a:t>LLM-Generated vs Human-Written</a:t>
            </a:r>
            <a:br/>
            <a:r>
              <a:t>Donation Appeals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6B6D4"/>
                </a:solidFill>
                <a:latin typeface="Segoe UI"/>
              </a:defRPr>
            </a:pPr>
            <a:r>
              <a:t>A Multi-factorial Analysis of Digital Charitable Giving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  <a:latin typeface="Segoe UI"/>
              </a:defRPr>
            </a:pPr>
            <a:r>
              <a:t>Salah-din Mrait</a:t>
            </a:r>
            <a:br/>
            <a:r>
              <a:t>Bachelor End Project • Data Science Joint Degree</a:t>
            </a:r>
            <a:br/>
            <a:r>
              <a:t>Tilburg University — Eindhoven University of Technology</a:t>
            </a:r>
            <a:br/>
            <a:br/>
            <a:r>
              <a:t>Supervisor: Dr. John Caffier</a:t>
            </a:r>
            <a:br/>
            <a:r>
              <a:t>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6B6D4"/>
                </a:solidFill>
                <a:latin typeface="Segoe UI"/>
              </a:defRPr>
            </a:pPr>
            <a:r>
              <a:t>The Research Problem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3716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8FAFC"/>
                </a:solidFill>
                <a:latin typeface="Segoe UI"/>
              </a:defRPr>
            </a:pPr>
            <a:r>
              <a:t>Charitable organizations increasingly use Large Language Models (LLMs) to create donation appeals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10312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1031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8FAFC"/>
                </a:solidFill>
                <a:latin typeface="Segoe UI"/>
              </a:defRPr>
            </a:pPr>
            <a:r>
              <a:t>Women donate more frequently and give higher amounts than men across cultures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83464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346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8FAFC"/>
                </a:solidFill>
                <a:latin typeface="Segoe UI"/>
              </a:defRPr>
            </a:pPr>
            <a:r>
              <a:t>LLMs produce emotionally polished language but lack genuine emotional experience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56616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661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8FAFC"/>
                </a:solidFill>
                <a:latin typeface="Segoe UI"/>
              </a:defRPr>
            </a:pPr>
            <a:r>
              <a:t>Will women — who value emotional authenticity — respond differently to LLM content?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645920"/>
            <a:ext cx="5029200" cy="274320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  <a:latin typeface="Segoe UI"/>
              </a:defRPr>
            </a:pPr>
            <a:r>
              <a:t>Main Research 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2860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Segoe UI"/>
              </a:defRPr>
            </a:pPr>
            <a:r>
              <a:t>"Do women and men respond differently to LLM-generated versus human-written emotional donation appeals for cancer charities?"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6B6D4"/>
                </a:solidFill>
                <a:latin typeface="Segoe UI"/>
              </a:defRPr>
            </a:pPr>
            <a:r>
              <a:t>Theoretical Background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0">
                <a:solidFill>
                  <a:srgbClr val="F8FAFC"/>
                </a:solidFill>
                <a:latin typeface="Segoe UI"/>
              </a:defRPr>
            </a:pPr>
            <a:r>
              <a:t>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B6D4"/>
                </a:solidFill>
                <a:latin typeface="Segoe UI"/>
              </a:defRPr>
            </a:pPr>
            <a:r>
              <a:t>Empathic Concern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920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Segoe UI"/>
              </a:defRPr>
            </a:pPr>
            <a:r>
              <a:t>Women report higher empathy. Perceived sincerity matters when emotional engagement drives persuasion.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43200"/>
            <a:ext cx="1069848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0">
                <a:solidFill>
                  <a:srgbClr val="F8FAFC"/>
                </a:solidFill>
                <a:latin typeface="Segoe UI"/>
              </a:defRPr>
            </a:pPr>
            <a:r>
              <a:t>⚠️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926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B6D4"/>
                </a:solidFill>
                <a:latin typeface="Segoe UI"/>
              </a:defRPr>
            </a:pPr>
            <a:r>
              <a:t>Algorithm Aversion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291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Segoe UI"/>
              </a:defRPr>
            </a:pPr>
            <a:r>
              <a:t>People trust algorithms less in emotional domains. Women may react more negatively to disclosed LLM content.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1069848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0">
                <a:solidFill>
                  <a:srgbClr val="F8FAFC"/>
                </a:solidFill>
                <a:latin typeface="Segoe UI"/>
              </a:defRPr>
            </a:pPr>
            <a:r>
              <a:t>❤️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B6D4"/>
                </a:solidFill>
                <a:latin typeface="Segoe UI"/>
              </a:defRPr>
            </a:pPr>
            <a:r>
              <a:t>Care vs. Justice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663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Segoe UI"/>
              </a:defRPr>
            </a:pPr>
            <a:r>
              <a:t>Women adopt care-focused moral reasoning; LLM appeals may fail if caring relationship perception weakens.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6B6D4"/>
                </a:solidFill>
                <a:latin typeface="Segoe UI"/>
              </a:defRPr>
            </a:pPr>
            <a:r>
              <a:t>Research Hypotheses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91440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188720"/>
            <a:ext cx="1060704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25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C3AED"/>
                </a:solidFill>
                <a:latin typeface="Segoe UI"/>
              </a:defRPr>
            </a:pPr>
            <a:r>
              <a:t>H1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Segoe UI"/>
              </a:defRPr>
            </a:pPr>
            <a:r>
              <a:t>Women will report significantly lower persuasiveness scores (1-7 Likert) for LLM appeals, while men show no difference.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77440"/>
            <a:ext cx="91440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377440"/>
            <a:ext cx="1060704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14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C3AED"/>
                </a:solidFill>
                <a:latin typeface="Segoe UI"/>
              </a:defRPr>
            </a:pPr>
            <a:r>
              <a:t>H2a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788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Segoe UI"/>
              </a:defRPr>
            </a:pPr>
            <a:r>
              <a:t>Women will allocate higher monetary amounts (USD 0.00-0.10) regardless of appeal source.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566160"/>
            <a:ext cx="91440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3566160"/>
            <a:ext cx="1060704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703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C3AED"/>
                </a:solidFill>
                <a:latin typeface="Segoe UI"/>
              </a:defRPr>
            </a:pPr>
            <a:r>
              <a:t>H2b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977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Segoe UI"/>
              </a:defRPr>
            </a:pPr>
            <a:r>
              <a:t>The donation gap between genders will be larger for human-written appeals.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754880"/>
            <a:ext cx="91440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4754880"/>
            <a:ext cx="1060704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892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C3AED"/>
                </a:solidFill>
                <a:latin typeface="Segoe UI"/>
              </a:defRPr>
            </a:pPr>
            <a:r>
              <a:t>H3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166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Segoe UI"/>
              </a:defRPr>
            </a:pPr>
            <a:r>
              <a:t>Women's likelihood of selecting 'Like' will be higher for human-written appeals.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6B6D4"/>
                </a:solidFill>
                <a:latin typeface="Segoe UI"/>
              </a:defRPr>
            </a:pPr>
            <a:r>
              <a:t>Research Methods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2743200" cy="1371600"/>
          </a:xfrm>
          <a:prstGeom prst="roundRect">
            <a:avLst/>
          </a:prstGeom>
          <a:solidFill>
            <a:srgbClr val="2563EB">
              <a:lumMod val="20000"/>
              <a:lumOff val="80000"/>
            </a:srgbClr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55448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6B6D4"/>
                </a:solidFill>
              </a:defRPr>
            </a:pPr>
            <a:r>
              <a:t>725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945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748B"/>
                </a:solidFill>
              </a:defRPr>
            </a:pPr>
            <a:r>
              <a:t>U.S. Participants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371600"/>
            <a:ext cx="2743200" cy="1371600"/>
          </a:xfrm>
          <a:prstGeom prst="roundRect">
            <a:avLst/>
          </a:prstGeom>
          <a:solidFill>
            <a:srgbClr val="2563EB">
              <a:lumMod val="20000"/>
              <a:lumOff val="80000"/>
            </a:srgbClr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55448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6B6D4"/>
                </a:solidFill>
              </a:defRPr>
            </a:pPr>
            <a:r>
              <a:t>4,350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1945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748B"/>
                </a:solidFill>
              </a:defRPr>
            </a:pPr>
            <a:r>
              <a:t>Total Observations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371600"/>
            <a:ext cx="2743200" cy="1371600"/>
          </a:xfrm>
          <a:prstGeom prst="roundRect">
            <a:avLst/>
          </a:prstGeom>
          <a:solidFill>
            <a:srgbClr val="2563EB">
              <a:lumMod val="20000"/>
              <a:lumOff val="80000"/>
            </a:srgbClr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55448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6B6D4"/>
                </a:solidFill>
              </a:defRPr>
            </a:pPr>
            <a: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1945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748B"/>
                </a:solidFill>
              </a:defRPr>
            </a:pPr>
            <a:r>
              <a:t>Appeals per Participant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8FAFC"/>
                </a:solidFill>
                <a:latin typeface="Segoe UI"/>
              </a:defRPr>
            </a:pPr>
            <a:r>
              <a:t>📊 Design: Within-subjects experiment • Human vs LLM-generated appeals • Cancer charities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8FAFC"/>
                </a:solidFill>
                <a:latin typeface="Segoe UI"/>
              </a:defRPr>
            </a:pPr>
            <a:r>
              <a:t>📏 Outcomes: Engagement (Dislike/Neutral/Like) • Persuasiveness (1-7 scale) • Donation ($0.00-$0.10)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6B6D4"/>
                </a:solidFill>
                <a:latin typeface="Segoe UI"/>
              </a:defRPr>
            </a:pPr>
            <a:r>
              <a:t>Analytical Approach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3716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8FAFC"/>
                </a:solidFill>
                <a:latin typeface="Segoe UI"/>
              </a:defRPr>
            </a:pPr>
            <a:r>
              <a:t>Engagement: Ordinal logistic mixed-effects regression (cumulative link model)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10312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1031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8FAFC"/>
                </a:solidFill>
                <a:latin typeface="Segoe UI"/>
              </a:defRPr>
            </a:pPr>
            <a:r>
              <a:t>Persuasiveness: Linear mixed-effects model (continuous outcome)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83464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346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8FAFC"/>
                </a:solidFill>
                <a:latin typeface="Segoe UI"/>
              </a:defRPr>
            </a:pPr>
            <a:r>
              <a:t>Donation: Hurdle model (35.3% zero-inflation required two-part approach)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1371600"/>
            <a:ext cx="457200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1554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6B6D4"/>
                </a:solidFill>
                <a:latin typeface="Segoe UI"/>
              </a:defRPr>
            </a:pPr>
            <a:r>
              <a:t>All models include: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01168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Segoe UI"/>
              </a:defRPr>
            </a:pPr>
            <a:r>
              <a:t>✓ Random intercepts for participants</a:t>
            </a:r>
            <a:br/>
            <a:r>
              <a:t>✓ Random intercepts for posts</a:t>
            </a:r>
            <a:br/>
            <a:r>
              <a:t>✓ Gender × Content Source interaction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6B6D4"/>
                </a:solidFill>
                <a:latin typeface="Segoe UI"/>
              </a:defRPr>
            </a:pPr>
            <a:r>
              <a:t>Descriptive Statistics</a:t>
            </a:r>
          </a:p>
        </p:txBody>
      </p:sp>
      <p:pic>
        <p:nvPicPr>
          <p:cNvPr id="4" name="Picture 3" descr="engagemen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303520" cy="4114800"/>
          </a:xfrm>
          <a:prstGeom prst="rect">
            <a:avLst/>
          </a:prstGeom>
        </p:spPr>
      </p:pic>
      <p:pic>
        <p:nvPicPr>
          <p:cNvPr id="5" name="Picture 4" descr="persuasiveness_box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3035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6B6D4"/>
                </a:solidFill>
                <a:latin typeface="Segoe UI"/>
              </a:defRPr>
            </a:pPr>
            <a:r>
              <a:t>Main Effects: The LLM Advantage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28600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Segoe UI"/>
              </a:defRPr>
            </a:pPr>
            <a:r>
              <a:t>Outcome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371600"/>
            <a:ext cx="182880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0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Segoe UI"/>
              </a:defRPr>
            </a:pPr>
            <a:r>
              <a:t>LLM Effect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1371600"/>
            <a:ext cx="182880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0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Segoe UI"/>
              </a:defRPr>
            </a:pPr>
            <a:r>
              <a:t>p-value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371600"/>
            <a:ext cx="457200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Segoe UI"/>
              </a:defRPr>
            </a:pPr>
            <a:r>
              <a:t>Interpretation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828800"/>
            <a:ext cx="2286000" cy="548640"/>
          </a:xfrm>
          <a:prstGeom prst="rect">
            <a:avLst/>
          </a:prstGeom>
          <a:solidFill>
            <a:srgbClr val="1E293B"/>
          </a:solidFill>
          <a:ln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65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Segoe UI"/>
              </a:defRPr>
            </a:pPr>
            <a:r>
              <a:t>Engagement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1828800"/>
            <a:ext cx="1828800" cy="548640"/>
          </a:xfrm>
          <a:prstGeom prst="rect">
            <a:avLst/>
          </a:prstGeom>
          <a:solidFill>
            <a:srgbClr val="1E293B"/>
          </a:solidFill>
          <a:ln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1965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Segoe UI"/>
              </a:defRPr>
            </a:pPr>
            <a:r>
              <a:t>OR = 1.58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1828800"/>
            <a:ext cx="1828800" cy="548640"/>
          </a:xfrm>
          <a:prstGeom prst="rect">
            <a:avLst/>
          </a:prstGeom>
          <a:solidFill>
            <a:srgbClr val="1E293B"/>
          </a:solidFill>
          <a:ln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1965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2C55E"/>
                </a:solidFill>
                <a:latin typeface="Segoe UI"/>
              </a:defRPr>
            </a:pPr>
            <a:r>
              <a:t>&lt; .001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1828800"/>
            <a:ext cx="4572000" cy="548640"/>
          </a:xfrm>
          <a:prstGeom prst="rect">
            <a:avLst/>
          </a:prstGeom>
          <a:solidFill>
            <a:srgbClr val="1E293B"/>
          </a:solidFill>
          <a:ln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1965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Segoe UI"/>
              </a:defRPr>
            </a:pPr>
            <a:r>
              <a:t>58% higher odds of favorable rating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2377440"/>
            <a:ext cx="2286000" cy="548640"/>
          </a:xfrm>
          <a:prstGeom prst="rect">
            <a:avLst/>
          </a:prstGeom>
          <a:solidFill>
            <a:srgbClr val="1E293B"/>
          </a:solidFill>
          <a:ln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2514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Segoe UI"/>
              </a:defRPr>
            </a:pPr>
            <a:r>
              <a:t>Persuasiveness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2377440"/>
            <a:ext cx="1828800" cy="548640"/>
          </a:xfrm>
          <a:prstGeom prst="rect">
            <a:avLst/>
          </a:prstGeom>
          <a:solidFill>
            <a:srgbClr val="1E293B"/>
          </a:solidFill>
          <a:ln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2514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Segoe UI"/>
              </a:defRPr>
            </a:pPr>
            <a:r>
              <a:t>b = 0.20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0" y="2377440"/>
            <a:ext cx="1828800" cy="548640"/>
          </a:xfrm>
          <a:prstGeom prst="rect">
            <a:avLst/>
          </a:prstGeom>
          <a:solidFill>
            <a:srgbClr val="1E293B"/>
          </a:solidFill>
          <a:ln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0" y="2514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2C55E"/>
                </a:solidFill>
                <a:latin typeface="Segoe UI"/>
              </a:defRPr>
            </a:pPr>
            <a:r>
              <a:t>&lt; .001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2377440"/>
            <a:ext cx="4572000" cy="548640"/>
          </a:xfrm>
          <a:prstGeom prst="rect">
            <a:avLst/>
          </a:prstGeom>
          <a:solidFill>
            <a:srgbClr val="1E293B"/>
          </a:solidFill>
          <a:ln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2514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Segoe UI"/>
              </a:defRPr>
            </a:pPr>
            <a:r>
              <a:t>+0.20 points on 7-point scale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2926080"/>
            <a:ext cx="2286000" cy="548640"/>
          </a:xfrm>
          <a:prstGeom prst="rect">
            <a:avLst/>
          </a:prstGeom>
          <a:solidFill>
            <a:srgbClr val="1E293B"/>
          </a:solidFill>
          <a:ln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063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Segoe UI"/>
              </a:defRPr>
            </a:pPr>
            <a:r>
              <a:t>Donation Amount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0" y="2926080"/>
            <a:ext cx="1828800" cy="548640"/>
          </a:xfrm>
          <a:prstGeom prst="rect">
            <a:avLst/>
          </a:prstGeom>
          <a:solidFill>
            <a:srgbClr val="1E293B"/>
          </a:solidFill>
          <a:ln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91840" y="3063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Segoe UI"/>
              </a:defRPr>
            </a:pPr>
            <a:r>
              <a:t>b = 0.0018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0" y="2926080"/>
            <a:ext cx="1828800" cy="548640"/>
          </a:xfrm>
          <a:prstGeom prst="rect">
            <a:avLst/>
          </a:prstGeom>
          <a:solidFill>
            <a:srgbClr val="1E293B"/>
          </a:solidFill>
          <a:ln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20640" y="3063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2C55E"/>
                </a:solidFill>
                <a:latin typeface="Segoe UI"/>
              </a:defRPr>
            </a:pPr>
            <a:r>
              <a:t>.011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2926080"/>
            <a:ext cx="4572000" cy="548640"/>
          </a:xfrm>
          <a:prstGeom prst="rect">
            <a:avLst/>
          </a:prstGeom>
          <a:solidFill>
            <a:srgbClr val="1E293B"/>
          </a:solidFill>
          <a:ln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3063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Segoe UI"/>
              </a:defRPr>
            </a:pPr>
            <a:r>
              <a:t>Higher amounts for LLM appeals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6B6D4"/>
                </a:solidFill>
                <a:latin typeface="Segoe UI"/>
              </a:defRPr>
            </a:pPr>
            <a:r>
              <a:t>LLM-generated appeals outperformed human-written appeals on ALL outcomes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6B6D4"/>
                </a:solidFill>
                <a:latin typeface="Segoe UI"/>
              </a:defRPr>
            </a:pPr>
            <a:r>
              <a:t>Interaction: Engagement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2C55E"/>
                </a:solidFill>
                <a:latin typeface="Segoe UI"/>
              </a:defRPr>
            </a:pPr>
            <a:r>
              <a:t>Gender × Content Source (OR = 1.53, p = .011) — SIGNIFICANT</a:t>
            </a:r>
          </a:p>
        </p:txBody>
      </p:sp>
      <p:pic>
        <p:nvPicPr>
          <p:cNvPr id="5" name="Picture 4" descr="interaction_engagement_li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02920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8FAFC"/>
                </a:solidFill>
                <a:latin typeface="Segoe UI"/>
              </a:defRPr>
            </a:pPr>
            <a:r>
              <a:t>→ Both genders prefer LLM content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377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6B6D4"/>
                </a:solidFill>
                <a:latin typeface="Segoe UI"/>
              </a:defRPr>
            </a:pPr>
            <a:r>
              <a:t>→ Women show stronger preference for LLM appeals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926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8FAFC"/>
                </a:solidFill>
                <a:latin typeface="Segoe UI"/>
              </a:defRPr>
            </a:pPr>
            <a:r>
              <a:t>→ Steeper slope for women = significant interaction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657600"/>
            <a:ext cx="5029200" cy="914400"/>
          </a:xfrm>
          <a:prstGeom prst="roundRect">
            <a:avLst/>
          </a:prstGeom>
          <a:solidFill>
            <a:srgbClr val="3C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9319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EF4444"/>
                </a:solidFill>
                <a:latin typeface="Segoe UI"/>
              </a:defRPr>
            </a:pPr>
            <a:r>
              <a:t>H3 NOT Supported: Women preferred LLM content more, not less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6B6D4"/>
                </a:solidFill>
                <a:latin typeface="Segoe UI"/>
              </a:defRPr>
            </a:pPr>
            <a:r>
              <a:t>Interaction: Persuasiveness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F4444"/>
                </a:solidFill>
                <a:latin typeface="Segoe UI"/>
              </a:defRPr>
            </a:pPr>
            <a:r>
              <a:t>Gender × Content Source (b = 0.06, p = .428) — NOT SIGNIFICANT</a:t>
            </a:r>
          </a:p>
        </p:txBody>
      </p:sp>
      <p:pic>
        <p:nvPicPr>
          <p:cNvPr id="5" name="Picture 4" descr="interaction_persuasive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02920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8FAFC"/>
                </a:solidFill>
                <a:latin typeface="Segoe UI"/>
              </a:defRPr>
            </a:pPr>
            <a:r>
              <a:t>→ Both rated LLM content as more persuasive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377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8FAFC"/>
                </a:solidFill>
                <a:latin typeface="Segoe UI"/>
              </a:defRPr>
            </a:pPr>
            <a:r>
              <a:t>→ Visible gap is not statistically significant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657600"/>
            <a:ext cx="5029200" cy="914400"/>
          </a:xfrm>
          <a:prstGeom prst="roundRect">
            <a:avLst/>
          </a:prstGeom>
          <a:solidFill>
            <a:srgbClr val="3C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9319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EF4444"/>
                </a:solidFill>
                <a:latin typeface="Segoe UI"/>
              </a:defRPr>
            </a:pPr>
            <a:r>
              <a:t>H1 NOT Supported: No interaction on persuasiveness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6B6D4"/>
                </a:solidFill>
                <a:latin typeface="Segoe UI"/>
              </a:defRPr>
            </a:pPr>
            <a:r>
              <a:t>Interaction: Donation Amount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F4444"/>
                </a:solidFill>
                <a:latin typeface="Segoe UI"/>
              </a:defRPr>
            </a:pPr>
            <a:r>
              <a:t>Gender × Content Source (b = 0.0002, p = .735) — NOT SIGNIFICANT</a:t>
            </a:r>
          </a:p>
        </p:txBody>
      </p:sp>
      <p:pic>
        <p:nvPicPr>
          <p:cNvPr id="5" name="Picture 4" descr="interaction_donation_fi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02920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8FAFC"/>
                </a:solidFill>
                <a:latin typeface="Segoe UI"/>
              </a:defRPr>
            </a:pPr>
            <a:r>
              <a:t>→ Women donate more across both conditions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377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8FAFC"/>
                </a:solidFill>
                <a:latin typeface="Segoe UI"/>
              </a:defRPr>
            </a:pPr>
            <a:r>
              <a:t>→ Parallel lines = no interaction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657600"/>
            <a:ext cx="5029200" cy="914400"/>
          </a:xfrm>
          <a:prstGeom prst="roundRect">
            <a:avLst/>
          </a:prstGeom>
          <a:solidFill>
            <a:srgbClr val="3C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9319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EF4444"/>
                </a:solidFill>
                <a:latin typeface="Segoe UI"/>
              </a:defRPr>
            </a:pPr>
            <a:r>
              <a:t>H2b NOT Supported: Gender gap consistent across sources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6B6D4"/>
                </a:solidFill>
                <a:latin typeface="Segoe UI"/>
              </a:defRPr>
            </a:pPr>
            <a:r>
              <a:t>Hypothesis Testing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37160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Segoe UI"/>
              </a:defRPr>
            </a:pPr>
            <a:r>
              <a:t>Hypothesis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1371600"/>
            <a:ext cx="502920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7744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Segoe UI"/>
              </a:defRPr>
            </a:pPr>
            <a:r>
              <a:t>Prediction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371600"/>
            <a:ext cx="365760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Segoe UI"/>
              </a:defRPr>
            </a:pPr>
            <a:r>
              <a:t>Result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828800"/>
            <a:ext cx="1371600" cy="640080"/>
          </a:xfrm>
          <a:prstGeom prst="rect">
            <a:avLst/>
          </a:prstGeom>
          <a:solidFill>
            <a:srgbClr val="1E293B"/>
          </a:solidFill>
          <a:ln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Segoe UI"/>
              </a:defRPr>
            </a:pPr>
            <a:r>
              <a:t>H1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1828800"/>
            <a:ext cx="5029200" cy="640080"/>
          </a:xfrm>
          <a:prstGeom prst="rect">
            <a:avLst/>
          </a:prstGeom>
          <a:solidFill>
            <a:srgbClr val="1E293B"/>
          </a:solidFill>
          <a:ln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7440" y="2011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Segoe UI"/>
              </a:defRPr>
            </a:pPr>
            <a:r>
              <a:t>Women rate LLM as less persuasive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1828800"/>
            <a:ext cx="3657600" cy="640080"/>
          </a:xfrm>
          <a:prstGeom prst="rect">
            <a:avLst/>
          </a:prstGeom>
          <a:solidFill>
            <a:srgbClr val="1E293B"/>
          </a:solidFill>
          <a:ln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2011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F4444"/>
                </a:solidFill>
                <a:latin typeface="Segoe UI"/>
              </a:defRPr>
            </a:pPr>
            <a:r>
              <a:t>Not Supported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468880"/>
            <a:ext cx="1371600" cy="640080"/>
          </a:xfrm>
          <a:prstGeom prst="rect">
            <a:avLst/>
          </a:prstGeom>
          <a:solidFill>
            <a:srgbClr val="1E293B"/>
          </a:solidFill>
          <a:ln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6517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Segoe UI"/>
              </a:defRPr>
            </a:pPr>
            <a:r>
              <a:t>H2a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2468880"/>
            <a:ext cx="5029200" cy="640080"/>
          </a:xfrm>
          <a:prstGeom prst="rect">
            <a:avLst/>
          </a:prstGeom>
          <a:solidFill>
            <a:srgbClr val="1E293B"/>
          </a:solidFill>
          <a:ln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77440" y="2651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Segoe UI"/>
              </a:defRPr>
            </a:pPr>
            <a:r>
              <a:t>Women donate more than men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2468880"/>
            <a:ext cx="3657600" cy="640080"/>
          </a:xfrm>
          <a:prstGeom prst="rect">
            <a:avLst/>
          </a:prstGeom>
          <a:solidFill>
            <a:srgbClr val="1E293B"/>
          </a:solidFill>
          <a:ln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0" y="2651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2C55E"/>
                </a:solidFill>
                <a:latin typeface="Segoe UI"/>
              </a:defRPr>
            </a:pPr>
            <a:r>
              <a:t>Supported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108960"/>
            <a:ext cx="1371600" cy="640080"/>
          </a:xfrm>
          <a:prstGeom prst="rect">
            <a:avLst/>
          </a:prstGeom>
          <a:solidFill>
            <a:srgbClr val="1E293B"/>
          </a:solidFill>
          <a:ln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2918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Segoe UI"/>
              </a:defRPr>
            </a:pPr>
            <a:r>
              <a:t>H2b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0" y="3108960"/>
            <a:ext cx="5029200" cy="640080"/>
          </a:xfrm>
          <a:prstGeom prst="rect">
            <a:avLst/>
          </a:prstGeom>
          <a:solidFill>
            <a:srgbClr val="1E293B"/>
          </a:solidFill>
          <a:ln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77440" y="32918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Segoe UI"/>
              </a:defRPr>
            </a:pPr>
            <a:r>
              <a:t>Larger gender gap for human appeals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3108960"/>
            <a:ext cx="3657600" cy="640080"/>
          </a:xfrm>
          <a:prstGeom prst="rect">
            <a:avLst/>
          </a:prstGeom>
          <a:solidFill>
            <a:srgbClr val="1E293B"/>
          </a:solidFill>
          <a:ln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32918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F4444"/>
                </a:solidFill>
                <a:latin typeface="Segoe UI"/>
              </a:defRPr>
            </a:pPr>
            <a:r>
              <a:t>Not Supported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3749040"/>
            <a:ext cx="1371600" cy="640080"/>
          </a:xfrm>
          <a:prstGeom prst="rect">
            <a:avLst/>
          </a:prstGeom>
          <a:solidFill>
            <a:srgbClr val="1E293B"/>
          </a:solidFill>
          <a:ln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9319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Segoe UI"/>
              </a:defRPr>
            </a:pPr>
            <a:r>
              <a:t>H3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0" y="3749040"/>
            <a:ext cx="5029200" cy="640080"/>
          </a:xfrm>
          <a:prstGeom prst="rect">
            <a:avLst/>
          </a:prstGeom>
          <a:solidFill>
            <a:srgbClr val="1E293B"/>
          </a:solidFill>
          <a:ln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77440" y="3931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Segoe UI"/>
              </a:defRPr>
            </a:pPr>
            <a:r>
              <a:t>Women prefer human content for engagement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0" y="3749040"/>
            <a:ext cx="3657600" cy="640080"/>
          </a:xfrm>
          <a:prstGeom prst="rect">
            <a:avLst/>
          </a:prstGeom>
          <a:solidFill>
            <a:srgbClr val="1E293B"/>
          </a:solidFill>
          <a:ln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06640" y="3931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F4444"/>
                </a:solidFill>
                <a:latin typeface="Segoe UI"/>
              </a:defRPr>
            </a:pPr>
            <a:r>
              <a:t>Not Supported (Opposite)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6B6D4"/>
                </a:solidFill>
                <a:latin typeface="Segoe UI"/>
              </a:defRPr>
            </a:pPr>
            <a:r>
              <a:t>Discussion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3716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8FAFC"/>
                </a:solidFill>
                <a:latin typeface="Segoe UI"/>
              </a:defRPr>
            </a:pPr>
            <a:r>
              <a:t>"Sincerity Gap": Gender differences appeared only for quick, automatic engagement — not for deeper judgments or actual behavior.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28600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2860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8FAFC"/>
                </a:solidFill>
                <a:latin typeface="Segoe UI"/>
              </a:defRPr>
            </a:pPr>
            <a:r>
              <a:t>Algorithm Aversion Not Activated: Participants weren't told about LLM authorship, so skepticism wasn't triggered.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320040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2004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8FAFC"/>
                </a:solidFill>
                <a:latin typeface="Segoe UI"/>
              </a:defRPr>
            </a:pPr>
            <a:r>
              <a:t>Care Orientation Persists: Women's higher donations are triggered by distress signals — regardless of human or machine authorship.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6B6D4"/>
                </a:solidFill>
                <a:latin typeface="Segoe UI"/>
              </a:defRPr>
            </a:pPr>
            <a:r>
              <a:t>Practical Implications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8FAFC"/>
                </a:solidFill>
                <a:latin typeface="Segoe UI"/>
              </a:defRPr>
            </a:pPr>
            <a:r>
              <a:t>✓ LLMs can generate appeals that perform at least as well as human-written 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8FAFC"/>
                </a:solidFill>
                <a:latin typeface="Segoe UI"/>
              </a:defRPr>
            </a:pPr>
            <a:r>
              <a:t>✓ Especially useful for nonprofits with limited resources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8FAFC"/>
                </a:solidFill>
                <a:latin typeface="Segoe UI"/>
              </a:defRPr>
            </a:pPr>
            <a:r>
              <a:t>⚠️ Disclosure policies require caution — labeling may reduce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8FAFC"/>
                </a:solidFill>
                <a:latin typeface="Segoe UI"/>
              </a:defRPr>
            </a:pPr>
            <a:r>
              <a:t>→ Organizations face a trade-off between transparency and effectiveness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371600"/>
            <a:ext cx="4572000" cy="2743200"/>
          </a:xfrm>
          <a:prstGeom prst="roundRect">
            <a:avLst/>
          </a:prstGeom>
          <a:solidFill>
            <a:srgbClr val="1E3246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1645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  <a:latin typeface="Segoe UI"/>
              </a:defRPr>
            </a:pPr>
            <a:r>
              <a:t>Key Takeaway: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10312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6B6D4"/>
                </a:solidFill>
                <a:latin typeface="Segoe UI"/>
              </a:defRPr>
            </a:pPr>
            <a:r>
              <a:t>Gender does not limit the value of LLMs in fundraising. Donors respond to content quality, not author identity.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6B6D4"/>
                </a:solidFill>
                <a:latin typeface="Segoe UI"/>
              </a:defRPr>
            </a:pPr>
            <a:r>
              <a:t>Limitations &amp; Future Research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Segoe UI"/>
              </a:defRPr>
            </a:pPr>
            <a:r>
              <a:t>🔒 Participants not disclosed about LLM authorship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Segoe UI"/>
              </a:defRPr>
            </a:pPr>
            <a:r>
              <a:t>🎯 Single domain (cancer charities)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502920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Segoe UI"/>
              </a:defRPr>
            </a:pPr>
            <a:r>
              <a:t>💰 Small donation amounts ($0.00-$0.10)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502920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29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Segoe UI"/>
              </a:defRPr>
            </a:pPr>
            <a:r>
              <a:t>🇺🇸 U.S. sample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B6D4"/>
                </a:solidFill>
                <a:latin typeface="Segoe UI"/>
              </a:defRPr>
            </a:pPr>
            <a:r>
              <a:t>Future Directions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288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Segoe UI"/>
              </a:defRPr>
            </a:pPr>
            <a:r>
              <a:t>1. Test effects when LLM authorship is disclosed</a:t>
            </a:r>
            <a:br/>
            <a:r>
              <a:t>2. Explore other charitable domains</a:t>
            </a:r>
            <a:br/>
            <a:r>
              <a:t>3. Examine long-term donor relationships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6B6D4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9418320" cy="3657600"/>
          </a:xfrm>
          <a:prstGeom prst="roundRect">
            <a:avLst/>
          </a:prstGeom>
          <a:solidFill>
            <a:srgbClr val="1E3246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F8FAFC"/>
                </a:solidFill>
                <a:latin typeface="Segoe UI"/>
              </a:defRPr>
            </a:pPr>
            <a:r>
              <a:t>LLM-generated donation appeals outperform human-written appeals across all outcomes.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6B6D4"/>
                </a:solidFill>
                <a:latin typeface="Segoe UI"/>
              </a:defRPr>
            </a:pPr>
            <a:r>
              <a:t>Gender differences do not limit the effectiveness of LLM-generated charitable appeals.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657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64748B"/>
                </a:solidFill>
                <a:latin typeface="Segoe UI"/>
              </a:defRPr>
            </a:pPr>
            <a:r>
              <a:t>Women's higher generosity persists regardless of whether a human or machine wrote the appeal.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8FAFC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7432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06B6D4"/>
                </a:solidFill>
                <a:latin typeface="Segoe UI"/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114800"/>
            <a:ext cx="121916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  <a:latin typeface="Segoe UI"/>
              </a:defRPr>
            </a:pPr>
            <a:r>
              <a:t>Salah-din Mrait</a:t>
            </a:r>
            <a:br/>
            <a:r>
              <a:t>s.mrait@tilburguniversity.edu</a:t>
            </a:r>
            <a:br/>
            <a:br/>
            <a:r>
              <a:t>Supervisor: Dr. John Caffier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